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/ C_geo</c:v>
                </c:pt>
              </c:strCache>
            </c:strRef>
          </c:tx>
          <c:spPr>
            <a:ln w="28575">
              <a:solidFill>
                <a:srgbClr val="C41E3A"/>
              </a:solidFill>
            </a:ln>
          </c:spPr>
          <c:marker>
            <c:symbol val="none"/>
          </c:marker>
          <c:cat>
            <c:strRef>
              <c:f>Sheet1!$A$2:$A$19</c:f>
              <c:strCache>
                <c:ptCount val="18"/>
                <c:pt idx="0">
                  <c:v>-2</c:v>
                </c:pt>
                <c:pt idx="1">
                  <c:v>-1</c:v>
                </c:pt>
                <c:pt idx="2">
                  <c:v>0</c:v>
                </c:pt>
                <c:pt idx="3">
                  <c:v>0.8</c:v>
                </c:pt>
                <c:pt idx="4">
                  <c:v>1.4</c:v>
                </c:pt>
                <c:pt idx="5">
                  <c:v>1.9</c:v>
                </c:pt>
                <c:pt idx="6">
                  <c:v>2.1</c:v>
                </c:pt>
                <c:pt idx="7">
                  <c:v>2.4</c:v>
                </c:pt>
                <c:pt idx="8">
                  <c:v>2.8</c:v>
                </c:pt>
                <c:pt idx="9">
                  <c:v>3.3</c:v>
                </c:pt>
                <c:pt idx="10">
                  <c:v>3.8</c:v>
                </c:pt>
                <c:pt idx="11">
                  <c:v>4.3</c:v>
                </c:pt>
                <c:pt idx="12">
                  <c:v>4.7</c:v>
                </c:pt>
                <c:pt idx="13">
                  <c:v>5.2</c:v>
                </c:pt>
                <c:pt idx="14">
                  <c:v>5.8</c:v>
                </c:pt>
                <c:pt idx="15">
                  <c:v>6.4</c:v>
                </c:pt>
                <c:pt idx="16">
                  <c:v>7.2</c:v>
                </c:pt>
                <c:pt idx="17">
                  <c:v>8</c:v>
                </c:pt>
              </c:strCache>
            </c:strRef>
          </c:cat>
          <c:val>
            <c:numRef>
              <c:f>Sheet1!$B$2:$B$19</c:f>
              <c:numCache>
                <c:formatCode>General</c:formatCode>
                <c:ptCount val="18"/>
                <c:pt idx="0">
                  <c:v>0.92</c:v>
                </c:pt>
                <c:pt idx="1">
                  <c:v>0.94</c:v>
                </c:pt>
                <c:pt idx="2">
                  <c:v>0.98</c:v>
                </c:pt>
                <c:pt idx="3">
                  <c:v>1.05</c:v>
                </c:pt>
                <c:pt idx="4">
                  <c:v>1.22</c:v>
                </c:pt>
                <c:pt idx="5">
                  <c:v>1.55</c:v>
                </c:pt>
                <c:pt idx="6">
                  <c:v>1.72</c:v>
                </c:pt>
                <c:pt idx="7">
                  <c:v>1.48</c:v>
                </c:pt>
                <c:pt idx="8">
                  <c:v>1.35</c:v>
                </c:pt>
                <c:pt idx="9">
                  <c:v>1.58</c:v>
                </c:pt>
                <c:pt idx="10">
                  <c:v>1.86</c:v>
                </c:pt>
                <c:pt idx="11">
                  <c:v>1.7</c:v>
                </c:pt>
                <c:pt idx="12">
                  <c:v>1.15</c:v>
                </c:pt>
                <c:pt idx="13">
                  <c:v>0.55</c:v>
                </c:pt>
                <c:pt idx="14">
                  <c:v>0.05</c:v>
                </c:pt>
                <c:pt idx="15">
                  <c:v>-0.55</c:v>
                </c:pt>
                <c:pt idx="16">
                  <c:v>-1.15</c:v>
                </c:pt>
                <c:pt idx="17">
                  <c:v>-1.45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 / C_geo</c:v>
                </c:pt>
              </c:strCache>
            </c:strRef>
          </c:tx>
          <c:spPr>
            <a:ln w="28575">
              <a:solidFill>
                <a:srgbClr val="C41E3A"/>
              </a:solidFill>
            </a:ln>
          </c:spPr>
          <c:marker>
            <c:symbol val="none"/>
          </c:marker>
          <c:cat>
            <c:strRef>
              <c:f>Sheet1!$A$2:$A$14</c:f>
              <c:strCache>
                <c:ptCount val="13"/>
                <c:pt idx="0">
                  <c:v>1M</c:v>
                </c:pt>
                <c:pt idx="1">
                  <c:v>300k</c:v>
                </c:pt>
                <c:pt idx="2">
                  <c:v>100k</c:v>
                </c:pt>
                <c:pt idx="3">
                  <c:v>30k</c:v>
                </c:pt>
                <c:pt idx="4">
                  <c:v>10k</c:v>
                </c:pt>
                <c:pt idx="5">
                  <c:v>3k</c:v>
                </c:pt>
                <c:pt idx="6">
                  <c:v>1k</c:v>
                </c:pt>
                <c:pt idx="7">
                  <c:v>300</c:v>
                </c:pt>
                <c:pt idx="8">
                  <c:v>100</c:v>
                </c:pt>
                <c:pt idx="9">
                  <c:v>30</c:v>
                </c:pt>
                <c:pt idx="10">
                  <c:v>10</c:v>
                </c:pt>
                <c:pt idx="11">
                  <c:v>3</c:v>
                </c:pt>
                <c:pt idx="12">
                  <c:v>1</c:v>
                </c:pt>
              </c:strCache>
            </c:strRef>
          </c:cat>
          <c:val>
            <c:numRef>
              <c:f>Sheet1!$B$2:$B$14</c:f>
              <c:numCache>
                <c:formatCode>General</c:formatCode>
                <c:ptCount val="13"/>
                <c:pt idx="0">
                  <c:v>1.0</c:v>
                </c:pt>
                <c:pt idx="1">
                  <c:v>1.02</c:v>
                </c:pt>
                <c:pt idx="2">
                  <c:v>1.05</c:v>
                </c:pt>
                <c:pt idx="3">
                  <c:v>1.12</c:v>
                </c:pt>
                <c:pt idx="4">
                  <c:v>1.28</c:v>
                </c:pt>
                <c:pt idx="5">
                  <c:v>1.45</c:v>
                </c:pt>
                <c:pt idx="6">
                  <c:v>1.35</c:v>
                </c:pt>
                <c:pt idx="7">
                  <c:v>0.85</c:v>
                </c:pt>
                <c:pt idx="8">
                  <c:v>0.15</c:v>
                </c:pt>
                <c:pt idx="9">
                  <c:v>-0.7</c:v>
                </c:pt>
                <c:pt idx="10">
                  <c:v>-1.4</c:v>
                </c:pt>
                <c:pt idx="11">
                  <c:v>-1.9</c:v>
                </c:pt>
                <c:pt idx="12">
                  <c:v>-2.2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/>
        <c:majorTickMark val="out"/>
        <c:minorTickMark val="none"/>
        <c:tickLblPos val="nextTo"/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先声明边界：今天不讲像素存储电容 Cst，只讲 OLED 叠层本身的动态电容。建议 35 分钟讲解 + 10 分钟讨论。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按问题→机制→文献→对华星意味着什么。负电容控制在 8 分钟，不要被问成铁电 NC。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听众里一定有人以为在讲 Cst。用 30 秒把两者拆开，否则后面全听偏。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强调垂直 MIM：有机层 κ≈3–4，总厚 100–200 nm。印刷 OLED 的膜厚波动会直接写进 C_geo。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板书两条：Y=1/Z，C_p = Im(Y)/ω。强调交流振幅要小（50–100 mV），否则会调制发光和复合。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指着图讲四段。第一峰≈V_bi（或界面偶极修正后的平带）；第二峰对应双极注入；跌落与启亮同步；再往上可能变负。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Zhang et al. Molecules 2020：暗态两峰；光照会抬高第一峰并让它偏离 V_bi，说明空间电荷改了体内场。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同一偏压下，f 从 1 MHz 扫到 1 Hz。负电容几乎总出现在 &lt;100 Hz、高正偏。提醒：这是诊断窗口，不是驱动频率窗口。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务必先澄清：不是铁电 HZO 的负电容 FET，也不是把像素做成负 C。是 dQ/dV &lt; 0 的小信号响应，阻抗上像电感。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主线引用 Kim/Ko/Lee, J. Flex. Print. Electron. 2026。共同原则：电荷再分布滞后于电压。Niu PRL 2018 是陷阱辅助复合的关键实验。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这是 2026 综述最强调的开放问题。华星做加速老化、高温点亮时尤其容易把热和电子搅在一起。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落到可执行的测试项。材料组看界面和陷阱，器件组看平衡，可靠性组看老化峰位。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点到为止。电路同事关心的是：PWM 边沿、低灰阶、高 PPI 下 C_oled 不再可忽略。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最后十分钟落到产线。印刷看 C_geo 均匀性；柔性看弯折后界面电荷；高 PPI 玻璃基 OLED 看 C_oled 与寄生分离。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开场主线是 2026 综述。机制实验锚点是 PRL 2018。老化用 2025 Organic Electronics。其余作备份。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每个问题不超过两分钟。优先问印刷和老化，这两项和华星最贴。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rPr sz="1200">
                <a:latin typeface="Microsoft YaHei"/>
              </a:rPr>
              <a:t>四句话收：几何、谱、负电容、产线。然后停，把讨论题丢回去。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0"/>
                </a:solidFill>
                <a:latin typeface="Microsoft YaHei"/>
                <a:ea typeface="Microsoft YaHei"/>
              </a:rPr>
              <a:t>TCL 华星光电  ·  内部博士文献分享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10515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4400" b="1">
                <a:solidFill>
                  <a:srgbClr val="F4F0E8"/>
                </a:solidFill>
                <a:latin typeface="Microsoft YaHei"/>
                <a:ea typeface="Microsoft YaHei"/>
              </a:rPr>
              <a:t>OLED 器件电容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00400"/>
            <a:ext cx="10515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000" b="0">
                <a:solidFill>
                  <a:srgbClr val="E4EAF0"/>
                </a:solidFill>
                <a:latin typeface="Microsoft YaHei"/>
                <a:ea typeface="Microsoft YaHei"/>
              </a:rPr>
              <a:t>从几何电容、C–V / C–f 到负电容机制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5212080"/>
            <a:ext cx="1554480" cy="38404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248656"/>
            <a:ext cx="1554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C_geo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5212080"/>
            <a:ext cx="1554480" cy="38404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68880" y="5248656"/>
            <a:ext cx="1554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C–V 四段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5212080"/>
            <a:ext cx="1554480" cy="38404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06240" y="5248656"/>
            <a:ext cx="1554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阻抗谱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5212080"/>
            <a:ext cx="1554480" cy="38404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0" y="5248656"/>
            <a:ext cx="1554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负电容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680960" y="5212080"/>
            <a:ext cx="1554480" cy="38404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5248656"/>
            <a:ext cx="155448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ct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器件诊断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提纲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分享提纲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60020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62763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器件电容不是像素 Cst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08483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C_oled 是有机叠层的动态响应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60020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162763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几何电容与等效电路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69480" y="208483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三明治结构、C_p(ω)、小信号测量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29260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15468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760" y="318211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典型 C–V / C–f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08760" y="363931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V_bi、启亮、界面电荷、扩散电容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292608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46520" y="315468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318211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负电容机制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363931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复合滞后、注入不对称、界面积累、自热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2920" y="448056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5800" y="470916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08760" y="473659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作为诊断工具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08760" y="519379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陷阱、界面、老化、印刷膜厚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4480560"/>
            <a:ext cx="548640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46520" y="4709160"/>
            <a:ext cx="73152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200" b="1">
                <a:solidFill>
                  <a:srgbClr val="C41E3A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736592"/>
            <a:ext cx="420624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对华星产线的启示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193792"/>
            <a:ext cx="420624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IJP OLED、柔性、高 PPI、寿命监控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01  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先把对象说清楚：器件电容 ≠ 存储电容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46634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今天不讲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291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0">
                <a:solidFill>
                  <a:srgbClr val="E4EAF0"/>
                </a:solidFill>
                <a:latin typeface="Microsoft YaHei"/>
                <a:ea typeface="Microsoft YaHei"/>
              </a:rPr>
              <a:t>背板 MIM / MIS 存储电容 C_st、GOA 自举电容、In-cell 互容。那些是阵列与电路问题，另做分享。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53212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今天只讲 C_oled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器件本身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41448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阴极–有机叠层–阳极构成的动态电容。有机层既是发光介质，也是介电层。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它随偏压和频率变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38728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不是一个固定的平行板电容。注入、积累、复合、陷阱都会改 C(V,ω)。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它是探针，不是元件指标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36008"/>
            <a:ext cx="50292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产线不会把「负电容」写进规格书。但 C–V / 阻抗谱能读出界面、陷阱和老化。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02 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OLED 就是一块会发光的电容器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04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34440"/>
            <a:ext cx="11155680" cy="4114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小信号下，未注入时器件近似平行板电容。一旦双极注入，电容就不再由几何单独决定。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1783080"/>
            <a:ext cx="5577840" cy="658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1947672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EAF0"/>
                </a:solidFill>
                <a:latin typeface="Microsoft YaHei"/>
                <a:ea typeface="Microsoft YaHei"/>
              </a:rPr>
              <a:t>阴极  Al / Mg:Ag / LiF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023360" y="1947672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E4EAF0"/>
                </a:solidFill>
                <a:latin typeface="Microsoft YaHei"/>
                <a:ea typeface="Microsoft YaHei"/>
              </a:rPr>
              <a:t>电子注入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532888"/>
            <a:ext cx="5577840" cy="65836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697480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EAF0"/>
                </a:solidFill>
                <a:latin typeface="Microsoft YaHei"/>
                <a:ea typeface="Microsoft YaHei"/>
              </a:rPr>
              <a:t>ETL  电子传输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023360" y="2697480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E4EAF0"/>
                </a:solidFill>
                <a:latin typeface="Microsoft YaHei"/>
                <a:ea typeface="Microsoft YaHei"/>
              </a:rPr>
              <a:t>κ ≈ 3–4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282696"/>
            <a:ext cx="5577840" cy="658368"/>
          </a:xfrm>
          <a:prstGeom prst="round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447288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F4F0E8"/>
                </a:solidFill>
                <a:latin typeface="Microsoft YaHei"/>
                <a:ea typeface="Microsoft YaHei"/>
              </a:rPr>
              <a:t>EML  发光层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3447288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F4F0E8"/>
                </a:solidFill>
                <a:latin typeface="Microsoft YaHei"/>
                <a:ea typeface="Microsoft YaHei"/>
              </a:rPr>
              <a:t>复合与陷阱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4032504"/>
            <a:ext cx="5577840" cy="658368"/>
          </a:xfrm>
          <a:prstGeom prst="roundRect">
            <a:avLst/>
          </a:prstGeom>
          <a:solidFill>
            <a:srgbClr val="163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197096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EAF0"/>
                </a:solidFill>
                <a:latin typeface="Microsoft YaHei"/>
                <a:ea typeface="Microsoft YaHei"/>
              </a:rPr>
              <a:t>HTL  空穴传输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4197096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E4EAF0"/>
                </a:solidFill>
                <a:latin typeface="Microsoft YaHei"/>
                <a:ea typeface="Microsoft YaHei"/>
              </a:rPr>
              <a:t>κ ≈ 3–4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4782312"/>
            <a:ext cx="5577840" cy="658368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946904"/>
            <a:ext cx="34747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E4EAF0"/>
                </a:solidFill>
                <a:latin typeface="Microsoft YaHei"/>
                <a:ea typeface="Microsoft YaHei"/>
              </a:rPr>
              <a:t>阳极  ITO / 空穴注入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023360" y="4946904"/>
            <a:ext cx="1828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200" b="0">
                <a:solidFill>
                  <a:srgbClr val="E4EAF0"/>
                </a:solidFill>
                <a:latin typeface="Microsoft YaHei"/>
                <a:ea typeface="Microsoft YaHei"/>
              </a:rPr>
              <a:t>透明电极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669280"/>
            <a:ext cx="55778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C_geo = ε₀ ε_r A / d   ·   有机总厚约 100–200 nm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355080" y="178308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355080" y="1783080"/>
            <a:ext cx="5303520" cy="137160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19672" y="1911096"/>
            <a:ext cx="49743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几何电容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19672" y="2258568"/>
            <a:ext cx="4974336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C_geo = ε₀ ε_r A / d。有机材料 ε_r 约 3–4，远低于 SiNₓ / Al₂O₃。厚度 d 是最敏感的工艺量。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80" y="329184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355080" y="3291840"/>
            <a:ext cx="5303520" cy="137160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9672" y="3419856"/>
            <a:ext cx="49743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测试件 vs 像素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19672" y="3767328"/>
            <a:ext cx="4974336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2 mm 测试像素 C_geo 在 nF 量级，便于阻抗谱。显示子像素则落到 fF–pF，和 Cst、寄生 C 缠在一起。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355080" y="4800600"/>
            <a:ext cx="5303520" cy="137160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355080" y="4800600"/>
            <a:ext cx="5303520" cy="137160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19672" y="4928616"/>
            <a:ext cx="497433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多层界面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19672" y="5276088"/>
            <a:ext cx="4974336" cy="76809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HTL / EML / ETL 每个异质结都可能积累空间电荷。多层越多，C–V 越容易出现多峰和负电容。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02  测量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怎么测：阻抗谱把电容从导纳里拆出来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并联电容定义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C_p(ω) = Im[Y(ω)] / ω。高频极限回到 C_geo；低频才看得到陷阱、复合和热。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等效电路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最简：串联 R_s + 并联 R_pC_p。出现负电容时要加串联 RL 或常相位元件 CPE，描述分布弛豫。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C–V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固定频率扫偏压。看注入阈值、V_bi、电容峰、跌落和变负的电压。频率常用 100 Hz–10 kHz。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C–f / Nyquist / Bode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固定偏压扫频率。Nyquist 低频勾到 −Im Z &lt; 0 就是感性响应；Bode 相位越过 0° 进入电感区。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瞬态光谱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阶跃电压后的电流若出现过冲（di/dt &gt; 0 的时段），低频积分就会给出负的增量电容。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实验纪律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要控温、避自热、对比单极/双极器件。否则电子过程和焦耳热会搅在同一条低频尾巴上。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03  C–V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典型 C–V：四段，不是一条单调曲线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06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示意曲线（多层小分子 OLED，暗态）。真实器件峰位随阴极功函数、界面偶极和陷阱密度移动。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00200"/>
          <a:ext cx="7498079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69164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I 反偏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C ≈ C_geo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56032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II 第一峰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852928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接近 V_bi / 平带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42900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III 第二峰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721608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双极注入，扩散电容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29768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IV 跌落 / 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4590288"/>
            <a:ext cx="3657600" cy="4572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复合与滞后，C 可小于 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5303520"/>
            <a:ext cx="3657600" cy="7315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红线为示意 C(V)，不是某颗具体器件的测量。零线以下即负电容。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03  C–V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C–V 每一段在说什么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07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反偏 / 耗尽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C ≈ C_geo。内建场抽空可动电荷。若反偏 C 仍随频率掉，体内有深陷阱在响应。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第一峰 · 接近 V_bi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多数报道把第一峰拐点对应启亮或平带。阴极功函数、Alq₃/Al 偶极可以把表观 V_bi 抬高约 1 V。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第二峰 · 扩散电容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电子（或空穴）开始大量注入，过剩载流子贡献扩散电容。Alq₃ 偏 n 型时，第二峰常由电子主导。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跌落 · 复合开始吃电荷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亮度明显起来时，复合把积累电荷清掉，dQ/dV 下降。跌落电压与 1 cd/m² 启亮常常对齐。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界面电荷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NPB/Alq₃ 一类异质结会钉住界面电荷。反偏 C 上升、峰位平移，都是界面电荷在改内建势。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老化指纹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2025 年阻抗工作显示：老化后负界面电荷减少、串联电阻变大。C–V 峰高和峰位是寿命监控量。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03  C–f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C–f：高频看几何，低频看慢过程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08 / 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207008"/>
            <a:ext cx="111556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高正偏（约 4–7 V）下的示意 C–f。低频变负 = 电荷响应跟不上电压调制。</a:t>
            </a:r>
          </a:p>
        </p:txBody>
      </p:sp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365760" y="1600200"/>
          <a:ext cx="7498079" cy="45720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046720" y="169164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高频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198424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几何电容，偶极跟得上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265176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中频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94436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陷阱与界面开始响应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3611880"/>
            <a:ext cx="36576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100 Hz 以下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46720" y="3904488"/>
            <a:ext cx="3657600" cy="5029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复合、释放、自热，可变负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4846320"/>
            <a:ext cx="3657600" cy="10972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横轴为频率（示意，从高频到低频）。驱动刷新 60–165 Hz 是大信号，不能把这条小信号 NC 直接写进像素电路。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04  负电容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负电容：增量电容为负，不是介电常数翻号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09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46634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它看起来像什么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E4EAF0"/>
                </a:solidFill>
                <a:latin typeface="Microsoft YaHei"/>
                <a:ea typeface="Microsoft YaHei"/>
              </a:rPr>
              <a:t>C–V 在高正偏越过零；C–f 在低频掉到负值；Nyquist 低频出现感性勾；Bode 相位 &gt; 0°。物理上是：电压升高的瞬间，内部电荷来不及按准静态增加，甚至因为复合/释放而减少。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53212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它不是什么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不是铁电负电容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4144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HZO / NC-FET 是极化回滞的 dP/dE &lt; 0。OLED 的 NC 是载流子动力学，介质仍是普通有机层。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不是电路里的电感元件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3872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等效电路用 L 只是拟合。器件里没有线圈，是复合和热的延迟造成相位超前。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不是设计目标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3600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出现 NC 说明慢过程很强：注入不平衡、陷阱复合、界面水库或自热。用来找问题，不是用来优化开口率。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04  负电容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双极工作下的五种电子机制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10 /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1732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377440"/>
                <a:gridCol w="2468880"/>
                <a:gridCol w="4297680"/>
              </a:tblGrid>
              <a:tr h="792480"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机制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主导条件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频率 / 偏压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3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怎么辨认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Langevin 复合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双极、迁移率尚可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低频、高正偏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亮度起来后 C 急跌；与 np 乘积滞后有关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陷阱辅助 SRH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电子陷阱多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低频，τ_r ≈ 2/(N_t C_p)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加陷阱 NC 变强；几乎无陷阱的 LED 无 NC（PRL 2018）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注入不对称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空穴易进、电子难进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接触限制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改阴极/钝化界面，Nyquist 感性勾跟着变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有机–有机界面积累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迁移率差、多层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中低频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界面越多 C–V 越容易多峰并变负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能量无序 / 色散输运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高斯 DOS 宽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宽频带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σ/k_B T ≳ 6 时模型给出 NC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04  负电容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单极器件里，自热会冒充负电容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11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557784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5248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时间尺度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524865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380"/>
                </a:solidFill>
                <a:latin typeface="Microsoft YaHei"/>
                <a:ea typeface="Microsoft YaHei"/>
              </a:rPr>
              <a:t>电子过程可以到 μs–ms；热弛豫到 10 ms–s。极低频（&lt;10 Hz）的 NC 要先怀疑焦耳热。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37160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1371600"/>
            <a:ext cx="557784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28232" y="1499616"/>
            <a:ext cx="5248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判据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28232" y="1847088"/>
            <a:ext cx="524865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380"/>
                </a:solidFill>
                <a:latin typeface="Microsoft YaHei"/>
                <a:ea typeface="Microsoft YaHei"/>
              </a:rPr>
              <a:t>加铜块改善散热，NC 明显减弱 → 热贡献。单极器件仍有 NC 且随功耗走 → 也是热。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57200" y="3703320"/>
            <a:ext cx="557784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831336"/>
            <a:ext cx="5248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综述的建议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178808"/>
            <a:ext cx="524865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380"/>
                </a:solidFill>
                <a:latin typeface="Microsoft YaHei"/>
                <a:ea typeface="Microsoft YaHei"/>
              </a:rPr>
              <a:t>专门设计单极器件，频域和时域一起做，才能把热和电子拆开。只扫一条 C–f 不够。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577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6263640" y="3703320"/>
            <a:ext cx="557784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831336"/>
            <a:ext cx="524865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1A2332"/>
                </a:solidFill>
                <a:latin typeface="Microsoft YaHei"/>
                <a:ea typeface="Microsoft YaHei"/>
              </a:rPr>
              <a:t>对产线的提醒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28232" y="4178808"/>
            <a:ext cx="524865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6B7380"/>
                </a:solidFill>
                <a:latin typeface="Microsoft YaHei"/>
                <a:ea typeface="Microsoft YaHei"/>
              </a:rPr>
              <a:t>大电流老化夹具、封装前后、玻璃 vs 柔性衬底的热阻不同，NC 强度不能直接横向比。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05  诊断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电容是慢电荷过程的显微镜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12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读注入势垒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NC 起始电压随阴极功函数移动（Garcia-Belmonte, PRB 2007）。可估计界面态和偶极。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读陷阱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变温 C–f、光助 C–V。陷阱越多，低频 NC 和电导台阶越明显。PRL 2018 是对照实验模板。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读界面水库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插入薄绝缘或改 HTL/ETL 界面，C–V 峰个数和峰位会变。用来判断哪一层在囤电荷。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读老化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Park et al. 2025：老化后负界面电荷下降、电阻上升。把 C–V 峰高纳入寿命看板，比只看亮度衰减更早。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读膜厚与印刷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C_geo ∝ 1/d。IJP 膜厚不均会变成 C_geo 分布，再变成亮度和色偏。大面积扫描 C_geo 是印刷均匀性的电学镜子。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读极化子积累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Adv. Funct. Mater. 2025：自发取向极化（SOP）会在界面囤极化子。C–V 能定位这些慢电荷。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05  与驱动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和像素驱动的接点：C_oled 会进回路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13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394960" cy="4663440"/>
          </a:xfrm>
          <a:prstGeom prst="round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45920"/>
            <a:ext cx="484632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回路里它干什么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194560"/>
            <a:ext cx="4846320" cy="34747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500" b="0">
                <a:solidFill>
                  <a:srgbClr val="E4EAF0"/>
                </a:solidFill>
                <a:latin typeface="Microsoft YaHei"/>
                <a:ea typeface="Microsoft YaHei"/>
              </a:rPr>
              <a:t>驱动管看到的负载是 OLED 结电容 + 串联电阻 + 发光非线性。PWM / PHM 的脉冲边沿要给 C_oled 充电；低灰阶短脉冲时，充电电流占比变大，表观效率会漂。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532120" cy="46634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645920"/>
            <a:ext cx="50292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高 PPI 时更麻烦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14884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和 Cst、寄生抢频段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44144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子像素 C_oled 只有 fF–pF，和 C_st、C_gs 同量级。阻抗上要分频段看，不能把测到的 C 全算给器件。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324612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负电容不会帮你补偿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353872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低频 NC 发生在 &lt;100 Hz 的小信号。面板刷新 60–165 Hz 的大信号驱动，不能拿 NC 当电路元件用。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4343400"/>
            <a:ext cx="50292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直流老化 vs 交流诊断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636008"/>
            <a:ext cx="50292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300" b="0">
                <a:solidFill>
                  <a:srgbClr val="6B7380"/>
                </a:solidFill>
                <a:latin typeface="Microsoft YaHei"/>
                <a:ea typeface="Microsoft YaHei"/>
              </a:rPr>
              <a:t>寿命用直流或脉冲点亮；机理用小信号电容。两套实验要在同一批器件上配对，否则对不上。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06  华星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对华星产线：同一套电容，三条产品线答案不同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14 / 17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411480" y="1417320"/>
          <a:ext cx="1133856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4114800"/>
                <a:gridCol w="4206240"/>
              </a:tblGrid>
              <a:tr h="79248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产品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器件电容痛点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4F0E8"/>
                          </a:solidFill>
                          <a:latin typeface="Microsoft YaHei"/>
                          <a:ea typeface="Microsoft YaHei"/>
                        </a:rPr>
                        <a:t>建议动作</a:t>
                      </a:r>
                    </a:p>
                  </a:txBody>
                  <a:tcPr anchor="ctr">
                    <a:solidFill>
                      <a:srgbClr val="0D1B2A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印刷 OLED（武汉 IJP）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膜厚 → C_geo 不均 → 亮度 Mura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大面积 C_geo mapping 纳入制程监控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柔性 / 折叠 OLED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弯折后界面积累和漏电变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弯折前后对比 C–V 峰位，不要只看亮度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高 PPI 玻璃基 OLED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C_oled 与 Cst / 寄生无法分开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先用大尺寸测试件建谱，再缩到像素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寿命与可靠性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亮度衰减滞后于界面变化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把 C–V 峰高、R_s、低频 NC 起点做成老化指纹</a:t>
                      </a:r>
                    </a:p>
                  </a:txBody>
                  <a:tcPr anchor="ctr">
                    <a:solidFill>
                      <a:srgbClr val="E8EEF3"/>
                    </a:solidFill>
                  </a:tcPr>
                </a:tc>
              </a:tr>
              <a:tr h="792480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1A2332"/>
                          </a:solidFill>
                          <a:latin typeface="Microsoft YaHei"/>
                          <a:ea typeface="Microsoft YaHei"/>
                        </a:rPr>
                        <a:t>材料迭代（HTL/ETL）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多界面容易囤电荷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>
                          <a:solidFill>
                            <a:srgbClr val="6B7380"/>
                          </a:solidFill>
                          <a:latin typeface="Microsoft YaHei"/>
                          <a:ea typeface="Microsoft YaHei"/>
                        </a:rPr>
                        <a:t>每加一层就扫一条 C–V，作为叠层放行条件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06  精读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推荐精读（8 篇，分享够用）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15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Kim, Ko, Lee ·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J. Flex. Print. Electron. 综述。NC 在 C–V / C–f / Nyquist 中的表现，五种电子机制 + 自热。本次主线。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Niu et al. · PRL 2018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系统改电子陷阱密度。陷阱越多 NC 越强；近无陷阱的 LED 无 NC。陷阱辅助复合的铁证。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Garcia-Belmonte · PRB 2007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PPV OLED 的 C–V。低偏塌缩、阴极功函数决定感性起始电压。用来讲界面态和偶极。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Zhang et al. · Molecules 2020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光助 C/G–V。暗态两峰；光照抬高第一峰并偏离 V_bi。讲空间电荷和界面偶极的好图。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Park et al. ·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阻抗看老化界面电荷。负界面电荷下降、电阻上升。最接近产线可靠性语言。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Bisquert 2006 / Guan 2017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界面态注入导致 NC；空间电荷与非同步响应。历史来源，答「谁先看到」时用。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0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292608"/>
            <a:ext cx="73152" cy="256032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256032"/>
            <a:ext cx="7315200" cy="32918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讨论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66928"/>
            <a:ext cx="1115568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1A2332"/>
                </a:solidFill>
                <a:latin typeface="Microsoft YaHei"/>
                <a:ea typeface="Microsoft YaHei"/>
              </a:rPr>
              <a:t>五个值得当场争的问题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607040" y="6510528"/>
            <a:ext cx="118872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r"/>
            <a:r>
              <a:rPr sz="1100" b="0">
                <a:solidFill>
                  <a:srgbClr val="6B7380"/>
                </a:solidFill>
                <a:latin typeface="Microsoft YaHei"/>
                <a:ea typeface="Microsoft YaHei"/>
              </a:rPr>
              <a:t>16 / 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01  印刷均匀性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能否用 C_geo mapping 替代或补足光学膜厚？套准误差和厚度误差在电容上如何分开？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9768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6227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02  寿命监控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6227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NC 起始电压、C–V 峰高，谁更早于亮度衰减？要不要进可靠性看板？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138160" y="137160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02752" y="149961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03  多层界面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02752" y="184708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C–V 第二峰到底是扩散电容还是某层界面水库？加一层就多一个峰，怎么拆？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04  热还是电子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我们的加速老化夹具热阻多大？单极对照器件谁来做？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9768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46227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05  高 PPI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6227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1700 PPI 像素里，C_oled、C_st、C_gs 在阻抗上怎么分离？测试件谱能缩到子像素吗？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138160" y="3703320"/>
            <a:ext cx="3657600" cy="2148840"/>
          </a:xfrm>
          <a:prstGeom prst="roundRect">
            <a:avLst/>
          </a:prstGeom>
          <a:noFill/>
          <a:ln w="12700">
            <a:solidFill>
              <a:srgbClr val="D4CFC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02752" y="3831336"/>
            <a:ext cx="3328416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1">
                <a:solidFill>
                  <a:srgbClr val="1A2332"/>
                </a:solidFill>
                <a:latin typeface="Microsoft YaHei"/>
                <a:ea typeface="Microsoft YaHei"/>
              </a:rPr>
              <a:t>不要争的问题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02752" y="4178808"/>
            <a:ext cx="3328416" cy="154533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0">
                <a:solidFill>
                  <a:srgbClr val="6B7380"/>
                </a:solidFill>
                <a:latin typeface="Microsoft YaHei"/>
                <a:ea typeface="Microsoft YaHei"/>
              </a:rPr>
              <a:t>「能不能用铁电负电容做 OLED 像素」——对象都不是同一种 NC，留给另一次分享。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11480"/>
            <a:ext cx="1051560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200" b="1">
                <a:solidFill>
                  <a:srgbClr val="C41E3A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515600" cy="8229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2600" b="1">
                <a:solidFill>
                  <a:srgbClr val="F4F0E8"/>
                </a:solidFill>
                <a:latin typeface="Microsoft YaHei"/>
                <a:ea typeface="Microsoft YaHei"/>
              </a:rPr>
              <a:t>电容是慢电荷的语言，不是又一个规格数字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965960"/>
            <a:ext cx="73152" cy="1463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6596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几何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423160"/>
            <a:ext cx="49377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0"/>
                </a:solidFill>
                <a:latin typeface="Microsoft YaHei"/>
                <a:ea typeface="Microsoft YaHei"/>
              </a:rPr>
              <a:t>未注入时 OLED 就是 C_geo。印刷厚度、开口面积，第一笔账在这里。</a:t>
            </a:r>
          </a:p>
        </p:txBody>
      </p:sp>
      <p:sp>
        <p:nvSpPr>
          <p:cNvPr id="9" name="Rectangle 8"/>
          <p:cNvSpPr/>
          <p:nvPr/>
        </p:nvSpPr>
        <p:spPr>
          <a:xfrm>
            <a:off x="6355080" y="1965960"/>
            <a:ext cx="73152" cy="1463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6596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423160"/>
            <a:ext cx="49377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0"/>
                </a:solidFill>
                <a:latin typeface="Microsoft YaHei"/>
                <a:ea typeface="Microsoft YaHei"/>
              </a:rPr>
              <a:t>C–V 读注入和界面，C–f 读快慢过程。峰位、跌落、启亮要画在同一张图上。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931920"/>
            <a:ext cx="73152" cy="1463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3931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负电容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4389120"/>
            <a:ext cx="49377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0"/>
                </a:solidFill>
                <a:latin typeface="Microsoft YaHei"/>
                <a:ea typeface="Microsoft YaHei"/>
              </a:rPr>
              <a:t>dQ/dV &lt; 0，来自滞后的复合、注入、界面或热。用来诊断，不要写进驱动电路。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3931920"/>
            <a:ext cx="73152" cy="1463040"/>
          </a:xfrm>
          <a:prstGeom prst="rect">
            <a:avLst/>
          </a:prstGeom>
          <a:solidFill>
            <a:srgbClr val="C41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29400" y="3931920"/>
            <a:ext cx="493776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600" b="1">
                <a:solidFill>
                  <a:srgbClr val="C41E3A"/>
                </a:solidFill>
                <a:latin typeface="Microsoft YaHei"/>
                <a:ea typeface="Microsoft YaHei"/>
              </a:rPr>
              <a:t>产线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29400" y="4389120"/>
            <a:ext cx="49377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/>
            <a:r>
              <a:rPr sz="1400" b="0">
                <a:solidFill>
                  <a:srgbClr val="E4EAF0"/>
                </a:solidFill>
                <a:latin typeface="Microsoft YaHei"/>
                <a:ea typeface="Microsoft YaHei"/>
              </a:rPr>
              <a:t>材料放行扫 C–V，印刷监控 C_geo，可靠性看峰高和 NC 起点。器件组把谱建起来。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